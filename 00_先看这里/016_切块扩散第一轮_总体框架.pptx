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016 切块扩散第一轮总体框架。VAE冻结；crops.csv 5376；每轮336/batch16=21步；上限200轮=4200步；28维条件；仅噪声MSE；结构/描述符/力学反馈本轮关；右256条带验证；相关接近1停；末尾sample_id03。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6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" y="-164592"/>
            <a:ext cx="960120" cy="960120"/>
          </a:xfrm>
          <a:prstGeom prst="ellipse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"/>
            <a:ext cx="5486400" cy="43891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/>
            <a:r>
              <a:rPr sz="2200" b="1" i="0">
                <a:solidFill>
                  <a:srgbClr val="1F4E8C"/>
                </a:solidFill>
                <a:latin typeface="Microsoft YaHei"/>
                <a:ea typeface="Microsoft YaHei"/>
                <a:cs typeface="Microsoft YaHei"/>
              </a:rPr>
              <a:t>016 切块扩散第一轮</a:t>
            </a:r>
          </a:p>
        </p:txBody>
      </p:sp>
      <p:pic>
        <p:nvPicPr>
          <p:cNvPr id="5" name="Picture 4" descr="ecust_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91440"/>
            <a:ext cx="3291840" cy="47548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64592" y="749808"/>
            <a:ext cx="11859768" cy="210312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9DB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3716" bIns="1371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786384"/>
            <a:ext cx="8229600" cy="23774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① 潜变量缓存与切块（VAE 冻结，不重训）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078992"/>
            <a:ext cx="1371600" cy="1078992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14604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" rIns="36576" tIns="13716" bIns="13716" wrap="square"/>
          <a:lstStyle/>
          <a:p>
            <a:pPr algn="ctr"/>
            <a:r>
              <a:rPr sz="10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训练图</a:t>
            </a:r>
          </a:p>
          <a:p>
            <a:pPr algn="ctr"/>
            <a:r>
              <a:rPr sz="10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4通道·768×448</a:t>
            </a:r>
          </a:p>
        </p:txBody>
      </p:sp>
      <p:pic>
        <p:nvPicPr>
          <p:cNvPr id="9" name="Picture 8" descr="train_thum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444752"/>
            <a:ext cx="1115568" cy="62179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828800" y="1143000"/>
            <a:ext cx="1600200" cy="9601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4604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3716" bIns="13716" wrap="square"/>
          <a:lstStyle/>
          <a:p>
            <a:pPr algn="ctr"/>
            <a:r>
              <a:rPr sz="9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八视角分别编码</a:t>
            </a:r>
          </a:p>
          <a:p>
            <a:pPr algn="ctr"/>
            <a:r>
              <a:rPr sz="9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90°存档但不进训练窗</a:t>
            </a:r>
          </a:p>
          <a:p>
            <a:pPr algn="ctr"/>
            <a:r>
              <a:rPr sz="9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右转后右条带放不下</a:t>
            </a:r>
          </a:p>
          <a:p>
            <a:pPr algn="ctr"/>
            <a:r>
              <a:rPr sz="9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256窗；ID04/17仅4</a:t>
            </a:r>
          </a:p>
        </p:txBody>
      </p:sp>
      <p:sp>
        <p:nvSpPr>
          <p:cNvPr id="11" name="Trapezoid 10"/>
          <p:cNvSpPr/>
          <p:nvPr/>
        </p:nvSpPr>
        <p:spPr>
          <a:xfrm rot="5400000">
            <a:off x="3657600" y="1161288"/>
            <a:ext cx="822960" cy="914400"/>
          </a:xfrm>
          <a:prstGeom prst="trapezoid">
            <a:avLst>
              <a:gd name="adj" fmla="val 22000"/>
            </a:avLst>
          </a:prstGeom>
          <a:solidFill>
            <a:srgbClr val="E6E0EF"/>
          </a:solidFill>
          <a:ln w="15875">
            <a:solidFill>
              <a:srgbClr val="7F6A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207008"/>
            <a:ext cx="950976" cy="822960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9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Encoder</a:t>
            </a:r>
          </a:p>
          <a:p>
            <a:pPr algn="ctr"/>
            <a:r>
              <a:rPr sz="9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预训练·冻结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115568"/>
            <a:ext cx="1828800" cy="100584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4604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3716" bIns="13716" wrap="square"/>
          <a:lstStyle/>
          <a:p>
            <a:pPr algn="ctr"/>
            <a:r>
              <a:rPr sz="10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潜变量缓存</a:t>
            </a:r>
          </a:p>
          <a:p>
            <a:pPr algn="ctr"/>
            <a:r>
              <a:rPr sz="10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z  4×112×192</a:t>
            </a:r>
          </a:p>
          <a:p>
            <a:pPr algn="ctr"/>
            <a:r>
              <a:rPr sz="10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×0.344 已缩放</a:t>
            </a:r>
          </a:p>
          <a:p>
            <a:pPr algn="ctr"/>
            <a:r>
              <a:rPr sz="10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整图编码后落盘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1115568"/>
            <a:ext cx="2103120" cy="100584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4604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3716" bIns="13716" wrap="square"/>
          <a:lstStyle/>
          <a:p>
            <a:pPr algn="ctr"/>
            <a:r>
              <a:rPr sz="9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训练时现场切窗</a:t>
            </a:r>
          </a:p>
          <a:p>
            <a:pPr algn="ctr"/>
            <a:r>
              <a:rPr sz="9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64×64 潜变量窗</a:t>
            </a:r>
          </a:p>
          <a:p>
            <a:pPr algn="ctr"/>
            <a:r>
              <a:rPr sz="9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= 256×256 像素</a:t>
            </a:r>
          </a:p>
          <a:p>
            <a:pPr algn="ctr"/>
            <a:r>
              <a:rPr sz="9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不存窗作输入；PNG仅看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115568"/>
            <a:ext cx="2788920" cy="10058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4604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3716" bIns="13716" wrap="square"/>
          <a:lstStyle/>
          <a:p>
            <a:pPr algn="ctr"/>
            <a:r>
              <a:rPr sz="9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窗口清单 crops.csv</a:t>
            </a:r>
          </a:p>
          <a:p>
            <a:pPr algn="ctr"/>
            <a:r>
              <a:rPr sz="9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5376行 = 21合金×256</a:t>
            </a:r>
          </a:p>
          <a:p>
            <a:pPr algn="ctr"/>
            <a:r>
              <a:rPr sz="9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记位置+母晶粒描述符</a:t>
            </a:r>
          </a:p>
          <a:p>
            <a:pPr algn="ctr"/>
            <a:r>
              <a:rPr sz="9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描述符只作记录，不进网络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64208" y="1618488"/>
            <a:ext cx="164592" cy="0"/>
          </a:xfrm>
          <a:prstGeom prst="line">
            <a:avLst/>
          </a:prstGeom>
          <a:ln w="17780">
            <a:solidFill>
              <a:srgbClr val="2E75B6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429000" y="1618488"/>
            <a:ext cx="182880" cy="0"/>
          </a:xfrm>
          <a:prstGeom prst="line">
            <a:avLst/>
          </a:prstGeom>
          <a:ln w="17780">
            <a:solidFill>
              <a:srgbClr val="2E75B6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26280" y="1618488"/>
            <a:ext cx="182880" cy="0"/>
          </a:xfrm>
          <a:prstGeom prst="line">
            <a:avLst/>
          </a:prstGeom>
          <a:ln w="17780">
            <a:solidFill>
              <a:srgbClr val="2E75B6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37960" y="1618488"/>
            <a:ext cx="182880" cy="0"/>
          </a:xfrm>
          <a:prstGeom prst="line">
            <a:avLst/>
          </a:prstGeom>
          <a:ln w="17780">
            <a:solidFill>
              <a:srgbClr val="2E75B6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823960" y="1618488"/>
            <a:ext cx="182880" cy="0"/>
          </a:xfrm>
          <a:prstGeom prst="line">
            <a:avLst/>
          </a:prstGeom>
          <a:ln w="17780">
            <a:solidFill>
              <a:srgbClr val="2E75B6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rapezoid 20"/>
          <p:cNvSpPr/>
          <p:nvPr/>
        </p:nvSpPr>
        <p:spPr>
          <a:xfrm rot="16200000">
            <a:off x="4892040" y="2029968"/>
            <a:ext cx="502920" cy="868680"/>
          </a:xfrm>
          <a:prstGeom prst="trapezoid">
            <a:avLst>
              <a:gd name="adj" fmla="val 22000"/>
            </a:avLst>
          </a:prstGeom>
          <a:solidFill>
            <a:srgbClr val="E6E0EF"/>
          </a:solidFill>
          <a:ln w="15875">
            <a:solidFill>
              <a:srgbClr val="7F6A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2212848"/>
            <a:ext cx="905256" cy="502920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9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Decoder</a:t>
            </a:r>
          </a:p>
          <a:p>
            <a:pPr algn="ctr"/>
            <a:r>
              <a:rPr sz="9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冻结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2240280"/>
            <a:ext cx="3017520" cy="457200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Encoder / Decoder 全程冻结</a:t>
            </a:r>
          </a:p>
          <a:p>
            <a:pPr algn="l"/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不重训 VAE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2212848"/>
            <a:ext cx="2788920" cy="5029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4604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3716" bIns="13716" wrap="square"/>
          <a:lstStyle/>
          <a:p>
            <a:pPr algn="ctr"/>
            <a:r>
              <a:rPr sz="9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每轮：21合金各抽16行→336</a:t>
            </a:r>
          </a:p>
          <a:p>
            <a:pPr algn="ctr"/>
            <a:r>
              <a:rPr sz="9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打乱·batch16→21步；下轮重抽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4592" y="2944368"/>
            <a:ext cx="11859768" cy="1874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DB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3716" bIns="1371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" y="2980944"/>
            <a:ext cx="11430000" cy="23774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② 条件去噪训练（噪声 MSE 是本轮唯一损失；上限 200 轮 × 21 步 = 4200 步，不是旧的 80000 步）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608" y="3337560"/>
            <a:ext cx="777240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4604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3716" bIns="13716" wrap="square"/>
          <a:lstStyle/>
          <a:p>
            <a:pPr algn="ctr"/>
            <a:r>
              <a:rPr sz="11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9元素</a:t>
            </a:r>
          </a:p>
          <a:p>
            <a:pPr algn="ctr"/>
            <a:r>
              <a:rPr sz="11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成分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88720" y="3337560"/>
            <a:ext cx="640080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4604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3716" bIns="13716" wrap="square"/>
          <a:lstStyle/>
          <a:p>
            <a:pPr algn="ctr"/>
            <a:r>
              <a:rPr sz="140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GPR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65960" y="3310128"/>
            <a:ext cx="1325880" cy="3657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4604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3716" bIns="13716" wrap="square"/>
          <a:lstStyle/>
          <a:p>
            <a:pPr algn="ctr"/>
            <a:r>
              <a:rPr sz="10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描述符 μ+σ（5+5）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65960" y="3767328"/>
            <a:ext cx="1325880" cy="3657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4604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3716" bIns="13716" wrap="square"/>
          <a:lstStyle/>
          <a:p>
            <a:pPr algn="ctr"/>
            <a:r>
              <a:rPr sz="10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力学特征（9维）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9000" y="3337560"/>
            <a:ext cx="1417320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4604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3716" bIns="13716" wrap="square"/>
          <a:lstStyle/>
          <a:p>
            <a:pPr algn="ctr"/>
            <a:r>
              <a:rPr sz="10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28维条件</a:t>
            </a:r>
          </a:p>
          <a:p>
            <a:pPr algn="ctr"/>
            <a:r>
              <a:rPr sz="10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每合金一行</a:t>
            </a:r>
          </a:p>
          <a:p>
            <a:pPr algn="ctr"/>
            <a:r>
              <a:rPr sz="10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全窗共享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3310128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4604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3716" bIns="13716" wrap="square"/>
          <a:lstStyle/>
          <a:p>
            <a:pPr algn="ctr"/>
            <a:r>
              <a:rPr sz="10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条件编码器</a:t>
            </a:r>
          </a:p>
          <a:p>
            <a:pPr algn="ctr"/>
            <a:r>
              <a:rPr sz="10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15%条件丢弃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0" y="3950208"/>
            <a:ext cx="1371600" cy="3657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4604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3716" bIns="13716" wrap="square"/>
          <a:lstStyle/>
          <a:p>
            <a:pPr algn="ctr"/>
            <a:r>
              <a:rPr sz="10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时间嵌入 t</a:t>
            </a:r>
          </a:p>
        </p:txBody>
      </p:sp>
      <p:sp>
        <p:nvSpPr>
          <p:cNvPr id="34" name="Oval 33"/>
          <p:cNvSpPr/>
          <p:nvPr/>
        </p:nvSpPr>
        <p:spPr>
          <a:xfrm>
            <a:off x="6510528" y="3547872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3547872"/>
            <a:ext cx="274320" cy="274320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36" name="U-Net"/>
          <p:cNvSpPr/>
          <p:nvPr/>
        </p:nvSpPr>
        <p:spPr>
          <a:xfrm>
            <a:off x="6903720" y="3291840"/>
            <a:ext cx="1691640" cy="1143000"/>
          </a:xfrm>
          <a:prstGeom prst="roundRect">
            <a:avLst>
              <a:gd name="adj" fmla="val 12000"/>
            </a:avLst>
          </a:prstGeom>
          <a:solidFill>
            <a:srgbClr val="F5F7FB"/>
          </a:solidFill>
          <a:ln w="14604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3716" bIns="13716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96328" y="3520440"/>
            <a:ext cx="118872" cy="365760"/>
          </a:xfrm>
          <a:prstGeom prst="rect">
            <a:avLst/>
          </a:prstGeom>
          <a:solidFill>
            <a:srgbClr val="BDD7EE"/>
          </a:solidFill>
          <a:ln w="635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60920" y="3557016"/>
            <a:ext cx="118872" cy="292608"/>
          </a:xfrm>
          <a:prstGeom prst="rect">
            <a:avLst/>
          </a:prstGeom>
          <a:solidFill>
            <a:srgbClr val="9DC3E6"/>
          </a:solidFill>
          <a:ln w="635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25512" y="3593592"/>
            <a:ext cx="118872" cy="219456"/>
          </a:xfrm>
          <a:prstGeom prst="rect">
            <a:avLst/>
          </a:prstGeom>
          <a:solidFill>
            <a:srgbClr val="8FAADC"/>
          </a:solidFill>
          <a:ln w="635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690104" y="3630168"/>
            <a:ext cx="118872" cy="146304"/>
          </a:xfrm>
          <a:prstGeom prst="rect">
            <a:avLst/>
          </a:prstGeom>
          <a:solidFill>
            <a:srgbClr val="5B9BD5"/>
          </a:solidFill>
          <a:ln w="635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54696" y="3593592"/>
            <a:ext cx="118872" cy="219456"/>
          </a:xfrm>
          <a:prstGeom prst="rect">
            <a:avLst/>
          </a:prstGeom>
          <a:solidFill>
            <a:srgbClr val="8FAADC"/>
          </a:solidFill>
          <a:ln w="635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19288" y="3557016"/>
            <a:ext cx="118872" cy="292608"/>
          </a:xfrm>
          <a:prstGeom prst="rect">
            <a:avLst/>
          </a:prstGeom>
          <a:solidFill>
            <a:srgbClr val="9DC3E6"/>
          </a:solidFill>
          <a:ln w="635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83880" y="3520440"/>
            <a:ext cx="118872" cy="365760"/>
          </a:xfrm>
          <a:prstGeom prst="rect">
            <a:avLst/>
          </a:prstGeom>
          <a:solidFill>
            <a:srgbClr val="BDD7EE"/>
          </a:solidFill>
          <a:ln w="635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03720" y="4069080"/>
            <a:ext cx="1691640" cy="34747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110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条件去噪 U-Net</a:t>
            </a:r>
          </a:p>
          <a:p>
            <a:pPr algn="ctr"/>
            <a:r>
              <a:rPr sz="110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（FiLM）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4526280"/>
            <a:ext cx="1691640" cy="201168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900" b="0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输入：带噪窗潜变量 z_t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78240" y="3310128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4604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3716" bIns="13716" wrap="square"/>
          <a:lstStyle/>
          <a:p>
            <a:pPr algn="ctr"/>
            <a:r>
              <a:rPr sz="10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加噪</a:t>
            </a:r>
          </a:p>
          <a:p>
            <a:pPr algn="ctr"/>
            <a:r>
              <a:rPr sz="10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余弦噪声表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332720" y="3310128"/>
            <a:ext cx="1463040" cy="5029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4604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3716" bIns="13716" wrap="square"/>
          <a:lstStyle/>
          <a:p>
            <a:pPr algn="ctr"/>
            <a:r>
              <a:rPr sz="10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真实噪声</a:t>
            </a:r>
          </a:p>
          <a:p>
            <a:pPr algn="ctr"/>
            <a:r>
              <a:rPr sz="10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ε ~ N(0, I)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78240" y="4023360"/>
            <a:ext cx="1371600" cy="64008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4604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3716" bIns="13716" wrap="square"/>
          <a:lstStyle/>
          <a:p>
            <a:pPr algn="ctr"/>
            <a:r>
              <a:rPr sz="110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噪声损失 MSE</a:t>
            </a:r>
          </a:p>
          <a:p>
            <a:pPr algn="ctr"/>
            <a:r>
              <a:rPr sz="1100" b="1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唯一 · 权重 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332720" y="4023360"/>
            <a:ext cx="1463040" cy="64008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4604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3716" bIns="13716" wrap="square"/>
          <a:lstStyle/>
          <a:p>
            <a:pPr algn="ctr"/>
            <a:r>
              <a:rPr sz="10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预测噪声 εθ</a:t>
            </a:r>
          </a:p>
          <a:p>
            <a:pPr algn="ctr"/>
            <a:r>
              <a:rPr sz="10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与真实噪声比较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069848" y="3721608"/>
            <a:ext cx="118872" cy="0"/>
          </a:xfrm>
          <a:prstGeom prst="line">
            <a:avLst/>
          </a:prstGeom>
          <a:ln w="17780">
            <a:solidFill>
              <a:srgbClr val="2E75B6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1828800" y="3493008"/>
            <a:ext cx="137160" cy="228600"/>
          </a:xfrm>
          <a:custGeom>
            <a:avLst/>
            <a:gdLst/>
            <a:ahLst/>
            <a:cxnLst/>
            <a:rect l="l" t="t" r="r" b="b"/>
            <a:pathLst>
              <a:path w="137160" h="228600">
                <a:moveTo>
                  <a:pt x="0" y="228600"/>
                </a:moveTo>
                <a:lnTo>
                  <a:pt x="73152" y="228600"/>
                </a:lnTo>
                <a:lnTo>
                  <a:pt x="73152" y="0"/>
                </a:lnTo>
                <a:lnTo>
                  <a:pt x="137160" y="0"/>
                </a:lnTo>
              </a:path>
            </a:pathLst>
          </a:custGeom>
          <a:noFill/>
          <a:ln w="17780">
            <a:solidFill>
              <a:srgbClr val="2E75B6"/>
            </a:solidFill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3291840" y="3493008"/>
            <a:ext cx="137160" cy="228600"/>
          </a:xfrm>
          <a:custGeom>
            <a:avLst/>
            <a:gdLst/>
            <a:ahLst/>
            <a:cxnLst/>
            <a:rect l="l" t="t" r="r" b="b"/>
            <a:pathLst>
              <a:path w="137160" h="228600">
                <a:moveTo>
                  <a:pt x="0" y="0"/>
                </a:moveTo>
                <a:lnTo>
                  <a:pt x="73152" y="0"/>
                </a:lnTo>
                <a:lnTo>
                  <a:pt x="73152" y="228600"/>
                </a:lnTo>
                <a:lnTo>
                  <a:pt x="137160" y="228600"/>
                </a:lnTo>
              </a:path>
            </a:pathLst>
          </a:custGeom>
          <a:noFill/>
          <a:ln w="17780">
            <a:solidFill>
              <a:srgbClr val="2E75B6"/>
            </a:solidFill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3291840" y="3721608"/>
            <a:ext cx="137160" cy="228600"/>
          </a:xfrm>
          <a:custGeom>
            <a:avLst/>
            <a:gdLst/>
            <a:ahLst/>
            <a:cxnLst/>
            <a:rect l="l" t="t" r="r" b="b"/>
            <a:pathLst>
              <a:path w="137160" h="228600">
                <a:moveTo>
                  <a:pt x="0" y="228600"/>
                </a:moveTo>
                <a:lnTo>
                  <a:pt x="73152" y="228600"/>
                </a:lnTo>
                <a:lnTo>
                  <a:pt x="73152" y="0"/>
                </a:lnTo>
                <a:lnTo>
                  <a:pt x="137160" y="0"/>
                </a:lnTo>
              </a:path>
            </a:pathLst>
          </a:custGeom>
          <a:noFill/>
          <a:ln w="17780">
            <a:solidFill>
              <a:srgbClr val="2E75B6"/>
            </a:solidFill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4846320" y="3721608"/>
            <a:ext cx="182880" cy="0"/>
          </a:xfrm>
          <a:prstGeom prst="line">
            <a:avLst/>
          </a:prstGeom>
          <a:ln w="17780">
            <a:solidFill>
              <a:srgbClr val="2E75B6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400800" y="3566160"/>
            <a:ext cx="109728" cy="118872"/>
          </a:xfrm>
          <a:prstGeom prst="line">
            <a:avLst/>
          </a:prstGeom>
          <a:ln w="17780">
            <a:solidFill>
              <a:srgbClr val="2E75B6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784848" y="3685032"/>
            <a:ext cx="118872" cy="0"/>
          </a:xfrm>
          <a:prstGeom prst="line">
            <a:avLst/>
          </a:prstGeom>
          <a:ln w="17780">
            <a:solidFill>
              <a:srgbClr val="2E75B6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6400800" y="3822192"/>
            <a:ext cx="246888" cy="310896"/>
          </a:xfrm>
          <a:custGeom>
            <a:avLst/>
            <a:gdLst/>
            <a:ahLst/>
            <a:cxnLst/>
            <a:rect l="l" t="t" r="r" b="b"/>
            <a:pathLst>
              <a:path w="246888" h="310896">
                <a:moveTo>
                  <a:pt x="0" y="310896"/>
                </a:moveTo>
                <a:lnTo>
                  <a:pt x="246888" y="310896"/>
                </a:lnTo>
                <a:lnTo>
                  <a:pt x="246888" y="0"/>
                </a:lnTo>
              </a:path>
            </a:pathLst>
          </a:custGeom>
          <a:noFill/>
          <a:ln w="17780">
            <a:solidFill>
              <a:srgbClr val="2E75B6"/>
            </a:solidFill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7772400" y="2121408"/>
            <a:ext cx="1691640" cy="1188720"/>
          </a:xfrm>
          <a:custGeom>
            <a:avLst/>
            <a:gdLst/>
            <a:ahLst/>
            <a:cxnLst/>
            <a:rect l="l" t="t" r="r" b="b"/>
            <a:pathLst>
              <a:path w="1691640" h="1188720">
                <a:moveTo>
                  <a:pt x="0" y="0"/>
                </a:moveTo>
                <a:lnTo>
                  <a:pt x="0" y="1033272"/>
                </a:lnTo>
                <a:lnTo>
                  <a:pt x="1691640" y="1033272"/>
                </a:lnTo>
                <a:lnTo>
                  <a:pt x="1691640" y="1188720"/>
                </a:lnTo>
              </a:path>
            </a:pathLst>
          </a:custGeom>
          <a:noFill/>
          <a:ln w="17780">
            <a:solidFill>
              <a:srgbClr val="2E75B6"/>
            </a:solidFill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10149840" y="3566160"/>
            <a:ext cx="182880" cy="0"/>
          </a:xfrm>
          <a:prstGeom prst="line">
            <a:avLst/>
          </a:prstGeom>
          <a:ln w="17780">
            <a:solidFill>
              <a:srgbClr val="2E75B6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7754112" y="3154680"/>
            <a:ext cx="1024128" cy="411480"/>
          </a:xfrm>
          <a:custGeom>
            <a:avLst/>
            <a:gdLst/>
            <a:ahLst/>
            <a:cxnLst/>
            <a:rect l="l" t="t" r="r" b="b"/>
            <a:pathLst>
              <a:path w="1024128" h="411480">
                <a:moveTo>
                  <a:pt x="1024128" y="411480"/>
                </a:moveTo>
                <a:lnTo>
                  <a:pt x="886968" y="411480"/>
                </a:lnTo>
                <a:lnTo>
                  <a:pt x="886968" y="0"/>
                </a:lnTo>
                <a:lnTo>
                  <a:pt x="0" y="0"/>
                </a:lnTo>
                <a:lnTo>
                  <a:pt x="0" y="137160"/>
                </a:lnTo>
              </a:path>
            </a:pathLst>
          </a:custGeom>
          <a:noFill/>
          <a:ln w="17780">
            <a:solidFill>
              <a:srgbClr val="2E75B6"/>
            </a:solidFill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8595360" y="3858768"/>
            <a:ext cx="1737360" cy="301752"/>
          </a:xfrm>
          <a:prstGeom prst="line">
            <a:avLst/>
          </a:prstGeom>
          <a:ln w="17780">
            <a:solidFill>
              <a:srgbClr val="2E75B6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1064240" y="3813048"/>
            <a:ext cx="0" cy="210312"/>
          </a:xfrm>
          <a:prstGeom prst="line">
            <a:avLst/>
          </a:prstGeom>
          <a:ln w="17780">
            <a:solidFill>
              <a:srgbClr val="2E75B6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10149840" y="4343400"/>
            <a:ext cx="182880" cy="0"/>
          </a:xfrm>
          <a:prstGeom prst="line">
            <a:avLst/>
          </a:prstGeom>
          <a:ln w="17780">
            <a:solidFill>
              <a:srgbClr val="2E75B6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Freeform 64"/>
          <p:cNvSpPr/>
          <p:nvPr/>
        </p:nvSpPr>
        <p:spPr>
          <a:xfrm>
            <a:off x="8613648" y="3858768"/>
            <a:ext cx="164592" cy="484632"/>
          </a:xfrm>
          <a:custGeom>
            <a:avLst/>
            <a:gdLst/>
            <a:ahLst/>
            <a:cxnLst/>
            <a:rect l="l" t="t" r="r" b="b"/>
            <a:pathLst>
              <a:path w="164592" h="484632">
                <a:moveTo>
                  <a:pt x="164592" y="484632"/>
                </a:moveTo>
                <a:lnTo>
                  <a:pt x="0" y="484632"/>
                </a:lnTo>
                <a:lnTo>
                  <a:pt x="0" y="0"/>
                </a:lnTo>
              </a:path>
            </a:pathLst>
          </a:custGeom>
          <a:noFill/>
          <a:ln w="26670">
            <a:solidFill>
              <a:srgbClr val="C00000"/>
            </a:solidFill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64592" y="4937760"/>
            <a:ext cx="7635240" cy="96012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6510">
            <a:solidFill>
              <a:srgbClr val="A0A0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3716" bIns="13716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2608" y="4974336"/>
            <a:ext cx="7132320" cy="219456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③ 本轮关掉（代码路径保留，权重=0；灰显，仍画出）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20040" y="5257800"/>
            <a:ext cx="1783080" cy="530352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 w="14604">
            <a:solidFill>
              <a:srgbClr val="A0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3716" bIns="13716" wrap="square"/>
          <a:lstStyle/>
          <a:p>
            <a:pPr algn="ctr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【本轮关】图像结构损失</a:t>
            </a:r>
          </a:p>
          <a:p>
            <a:pPr algn="ctr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L1·边缘·晶界·Haar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240280" y="5257800"/>
            <a:ext cx="1691640" cy="530352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 w="14604">
            <a:solidFill>
              <a:srgbClr val="A0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3716" bIns="13716" wrap="square"/>
          <a:lstStyle/>
          <a:p>
            <a:pPr algn="ctr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【本轮关】描述符损失</a:t>
            </a:r>
          </a:p>
          <a:p>
            <a:pPr algn="ctr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描述符代理冻结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069080" y="5257800"/>
            <a:ext cx="1737360" cy="530352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 w="14604">
            <a:solidFill>
              <a:srgbClr val="A0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3716" bIns="13716" wrap="square"/>
          <a:lstStyle/>
          <a:p>
            <a:pPr algn="ctr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【本轮关】力学反馈损失</a:t>
            </a:r>
          </a:p>
          <a:p>
            <a:pPr algn="ctr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力学代理冻结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943600" y="5257800"/>
            <a:ext cx="1691640" cy="530352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 w="14604">
            <a:solidFill>
              <a:srgbClr val="A0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3716" bIns="13716" wrap="square"/>
          <a:lstStyle/>
          <a:p>
            <a:pPr algn="ctr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【本轮关】整图拼接</a:t>
            </a:r>
          </a:p>
          <a:p>
            <a:pPr algn="ctr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DDIM整图生成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955280" y="4937760"/>
            <a:ext cx="4069080" cy="96012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4604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3716" bIns="13716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092440" y="4974336"/>
            <a:ext cx="3794760" cy="219456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/>
            <a:r>
              <a:rPr sz="1100" b="1" i="0">
                <a:solidFill>
                  <a:srgbClr val="7F6000"/>
                </a:solidFill>
                <a:latin typeface="Microsoft YaHei"/>
                <a:ea typeface="Microsoft YaHei"/>
                <a:cs typeface="Microsoft YaHei"/>
              </a:rPr>
              <a:t>④ 验证与停止（不作早停调参）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92440" y="5230368"/>
            <a:ext cx="379476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仅右端256 px条带验证，不用于早停。</a:t>
            </a:r>
          </a:p>
          <a:p>
            <a:pPr algn="l"/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生成窗与训练窗像素相关接近1则停。</a:t>
            </a:r>
          </a:p>
          <a:p>
            <a:pPr algn="l"/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结束时 sample_id03：留出ID03抽少量256窗</a:t>
            </a:r>
          </a:p>
          <a:p>
            <a:pPr algn="l"/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（不进清单、不调参）。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64592" y="6016752"/>
            <a:ext cx="11859768" cy="502920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蓝色箭头</a:t>
            </a:r>
            <a:r>
              <a:rPr sz="12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是数据流，</a:t>
            </a:r>
            <a:r>
              <a:rPr sz="120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红色箭头</a:t>
            </a:r>
            <a:r>
              <a:rPr sz="12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是这一轮唯一的噪声损失；</a:t>
            </a:r>
            <a:r>
              <a:rPr sz="1200" b="1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灰色</a:t>
            </a:r>
            <a:r>
              <a:rPr sz="12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是冻结或本轮关掉的部分。单窗口不过关就不拼大图。</a:t>
            </a:r>
          </a:p>
        </p:txBody>
      </p:sp>
      <p:sp>
        <p:nvSpPr>
          <p:cNvPr id="52" name="Freeform 51"/>
          <p:cNvSpPr/>
          <p:nvPr/>
        </p:nvSpPr>
        <p:spPr>
          <a:xfrm>
            <a:off x="681228" y="4023360"/>
            <a:ext cx="2747772" cy="594360"/>
          </a:xfrm>
          <a:custGeom>
            <a:avLst/>
            <a:gdLst/>
            <a:ahLst/>
            <a:cxnLst/>
            <a:rect l="l" t="t" r="r" b="b"/>
            <a:pathLst>
              <a:path w="2747772" h="594360">
                <a:moveTo>
                  <a:pt x="0" y="91440"/>
                </a:moveTo>
                <a:lnTo>
                  <a:pt x="0" y="594360"/>
                </a:lnTo>
                <a:lnTo>
                  <a:pt x="2564892" y="594360"/>
                </a:lnTo>
                <a:lnTo>
                  <a:pt x="2564892" y="91440"/>
                </a:lnTo>
                <a:lnTo>
                  <a:pt x="2747772" y="0"/>
                </a:lnTo>
              </a:path>
            </a:pathLst>
          </a:custGeom>
          <a:noFill/>
          <a:ln w="17780">
            <a:solidFill>
              <a:srgbClr val="2E75B6"/>
            </a:solidFill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